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75" r:id="rId5"/>
    <p:sldId id="276" r:id="rId6"/>
    <p:sldId id="277" r:id="rId7"/>
    <p:sldId id="280" r:id="rId8"/>
    <p:sldId id="278" r:id="rId9"/>
    <p:sldId id="281" r:id="rId10"/>
    <p:sldId id="282" r:id="rId11"/>
    <p:sldId id="283" r:id="rId12"/>
    <p:sldId id="279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1330" y="67"/>
      </p:cViewPr>
      <p:guideLst>
        <p:guide orient="horz" pos="2174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RATHANALA" userId="7c9aa6e1067b4cf6" providerId="LiveId" clId="{59BCDDB0-13A4-4CE9-942F-7B2A14E577DC}"/>
    <pc:docChg chg="custSel modSld">
      <pc:chgData name="CHARAN RATHANALA" userId="7c9aa6e1067b4cf6" providerId="LiveId" clId="{59BCDDB0-13A4-4CE9-942F-7B2A14E577DC}" dt="2026-09-21T04:52:17.515" v="2" actId="478"/>
      <pc:docMkLst>
        <pc:docMk/>
      </pc:docMkLst>
      <pc:sldChg chg="delSp mod">
        <pc:chgData name="CHARAN RATHANALA" userId="7c9aa6e1067b4cf6" providerId="LiveId" clId="{59BCDDB0-13A4-4CE9-942F-7B2A14E577DC}" dt="2026-09-21T04:52:17.515" v="2" actId="478"/>
        <pc:sldMkLst>
          <pc:docMk/>
          <pc:sldMk cId="3144136257" sldId="281"/>
        </pc:sldMkLst>
        <pc:spChg chg="del">
          <ac:chgData name="CHARAN RATHANALA" userId="7c9aa6e1067b4cf6" providerId="LiveId" clId="{59BCDDB0-13A4-4CE9-942F-7B2A14E577DC}" dt="2026-09-21T04:52:17.515" v="2" actId="478"/>
          <ac:spMkLst>
            <pc:docMk/>
            <pc:sldMk cId="3144136257" sldId="281"/>
            <ac:spMk id="4" creationId="{63B1166B-7C6B-E8AB-A37F-1A676EEE48A0}"/>
          </ac:spMkLst>
        </pc:spChg>
      </pc:sldChg>
      <pc:sldChg chg="delSp mod">
        <pc:chgData name="CHARAN RATHANALA" userId="7c9aa6e1067b4cf6" providerId="LiveId" clId="{59BCDDB0-13A4-4CE9-942F-7B2A14E577DC}" dt="2026-09-21T04:52:14.512" v="1" actId="478"/>
        <pc:sldMkLst>
          <pc:docMk/>
          <pc:sldMk cId="3489302859" sldId="282"/>
        </pc:sldMkLst>
        <pc:spChg chg="del">
          <ac:chgData name="CHARAN RATHANALA" userId="7c9aa6e1067b4cf6" providerId="LiveId" clId="{59BCDDB0-13A4-4CE9-942F-7B2A14E577DC}" dt="2026-09-21T04:52:14.512" v="1" actId="478"/>
          <ac:spMkLst>
            <pc:docMk/>
            <pc:sldMk cId="3489302859" sldId="282"/>
            <ac:spMk id="4" creationId="{89AF269F-B979-1732-FE6F-EC70FA288EA2}"/>
          </ac:spMkLst>
        </pc:spChg>
      </pc:sldChg>
      <pc:sldChg chg="modSp mod">
        <pc:chgData name="CHARAN RATHANALA" userId="7c9aa6e1067b4cf6" providerId="LiveId" clId="{59BCDDB0-13A4-4CE9-942F-7B2A14E577DC}" dt="2026-09-21T04:52:11.769" v="0" actId="6549"/>
        <pc:sldMkLst>
          <pc:docMk/>
          <pc:sldMk cId="1156601328" sldId="283"/>
        </pc:sldMkLst>
        <pc:spChg chg="mod">
          <ac:chgData name="CHARAN RATHANALA" userId="7c9aa6e1067b4cf6" providerId="LiveId" clId="{59BCDDB0-13A4-4CE9-942F-7B2A14E577DC}" dt="2026-09-21T04:52:11.769" v="0" actId="6549"/>
          <ac:spMkLst>
            <pc:docMk/>
            <pc:sldMk cId="1156601328" sldId="283"/>
            <ac:spMk id="4" creationId="{E37BD3A2-86E6-997A-D9F7-80C518CF8C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0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3F5B-065E-43CE-B3FD-98C48A6F94D7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81223" y="2168693"/>
            <a:ext cx="7519358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3000" b="1" dirty="0">
                <a:solidFill>
                  <a:schemeClr val="bg2">
                    <a:lumMod val="10000"/>
                  </a:schemeClr>
                </a:solidFill>
              </a:rPr>
              <a:t>DATA STORYTELLING TECHNIQUES </a:t>
            </a:r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Interactive Decision Analytics</a:t>
            </a:r>
          </a:p>
          <a:p>
            <a:r>
              <a:rPr sz="1500" b="0" i="0" dirty="0">
                <a:solidFill>
                  <a:srgbClr val="000000"/>
                </a:solidFill>
                <a:latin typeface="Goudy Old Style" panose="02020502050305020303"/>
                <a:ea typeface="Goudy Old Style" panose="02020502050305020303"/>
                <a:cs typeface="Goudy Old Style" panose="02020502050305020303"/>
              </a:rPr>
              <a:t>​</a:t>
            </a:r>
            <a:r>
              <a:rPr lang="en-IN" sz="1500" dirty="0">
                <a:solidFill>
                  <a:schemeClr val="bg2">
                    <a:lumMod val="10000"/>
                  </a:schemeClr>
                </a:solidFill>
              </a:rPr>
              <a:t> Domain: Business Analytics</a:t>
            </a:r>
            <a:endParaRPr lang="en-US" sz="1500" dirty="0"/>
          </a:p>
          <a:p>
            <a:pPr algn="ctr"/>
            <a:endParaRPr lang="en-US" dirty="0"/>
          </a:p>
        </p:txBody>
      </p:sp>
      <p:pic>
        <p:nvPicPr>
          <p:cNvPr id="21506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736" y="0"/>
            <a:ext cx="2095500" cy="204787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54902" y="4560277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BATCH NO –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2420030121-S SAI RISHIK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	2420030140- R SAI CHARAN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2420030574-D SUJAY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n-IN" sz="1400" dirty="0">
                <a:solidFill>
                  <a:schemeClr val="tx2"/>
                </a:solidFill>
              </a:rPr>
              <a:t>2420030764-K SAI TEJA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145" y="0"/>
            <a:ext cx="5621655" cy="11430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7983"/>
            <a:ext cx="8792210" cy="46151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600" b="1" dirty="0"/>
              <a:t>Data Collection:</a:t>
            </a:r>
            <a:br>
              <a:rPr lang="en-IN" sz="1600" dirty="0"/>
            </a:br>
            <a:r>
              <a:rPr lang="en-IN" sz="1600" dirty="0"/>
              <a:t>Collected four sales datasets: Superstore, Global Superstore, Online Sales, and Supermarket datasets.</a:t>
            </a:r>
          </a:p>
          <a:p>
            <a:r>
              <a:rPr lang="en-IN" sz="1600" b="1" dirty="0"/>
              <a:t>Data Preprocessing:</a:t>
            </a:r>
            <a:br>
              <a:rPr lang="en-IN" sz="1600" dirty="0"/>
            </a:br>
            <a:r>
              <a:rPr lang="en-IN" sz="1600" dirty="0"/>
              <a:t>Cleaned the datasets by removing duplicates, handling missing or invalid values, standardizing column names, and converting numeric and date fields into appropriate formats.</a:t>
            </a:r>
          </a:p>
          <a:p>
            <a:r>
              <a:rPr lang="en-IN" sz="1600" b="1" dirty="0"/>
              <a:t>Data Integration:</a:t>
            </a:r>
            <a:br>
              <a:rPr lang="en-IN" sz="1600" dirty="0"/>
            </a:br>
            <a:r>
              <a:rPr lang="en-IN" sz="1600" dirty="0"/>
              <a:t>Integrated multiple datasets into a single dashboard framework and normalized common analytical fields such as Sales, Profit, Quantity, Category, Region, and Segment.</a:t>
            </a:r>
          </a:p>
          <a:p>
            <a:r>
              <a:rPr lang="en-IN" sz="1600" b="1" dirty="0"/>
              <a:t>Exploratory Data Analysis:</a:t>
            </a:r>
            <a:br>
              <a:rPr lang="en-IN" sz="1600" dirty="0"/>
            </a:br>
            <a:r>
              <a:rPr lang="en-IN" sz="1600" dirty="0" err="1"/>
              <a:t>Analyzed</a:t>
            </a:r>
            <a:r>
              <a:rPr lang="en-IN" sz="1600" dirty="0"/>
              <a:t> sales trends, category performance, regional performance, customer segments, top products, profitability, and discount-profit relationships.</a:t>
            </a:r>
          </a:p>
          <a:p>
            <a:r>
              <a:rPr lang="en-IN" sz="1600" b="1" dirty="0"/>
              <a:t>Feature Engineering:</a:t>
            </a:r>
            <a:br>
              <a:rPr lang="en-IN" sz="1600" dirty="0"/>
            </a:br>
            <a:r>
              <a:rPr lang="en-IN" sz="1600" dirty="0"/>
              <a:t>Created useful features such as Year, Month, Month Name, Quarter, and Profit Margin wherever the source data supported them.</a:t>
            </a:r>
          </a:p>
          <a:p>
            <a:r>
              <a:rPr lang="en-IN" sz="1600" b="1" dirty="0"/>
              <a:t>Machine Learning:</a:t>
            </a:r>
            <a:br>
              <a:rPr lang="en-IN" sz="1600" dirty="0"/>
            </a:br>
            <a:r>
              <a:rPr lang="en-IN" sz="1600" dirty="0"/>
              <a:t>Implemented a Random Forest Regressor to predict Sales using relevant features such as Quantity, Discount, Category, Sub-Category, Region, Segment, Year, Month, and Payment Mode where available.</a:t>
            </a:r>
          </a:p>
          <a:p>
            <a:r>
              <a:rPr lang="en-IN" sz="1600" b="1" dirty="0"/>
              <a:t>Model Evaluation:</a:t>
            </a:r>
            <a:br>
              <a:rPr lang="en-IN" sz="1600" dirty="0"/>
            </a:br>
            <a:r>
              <a:rPr lang="en-IN" sz="1600" dirty="0"/>
              <a:t>Evaluated the regression model using R² Score, Mean Absolute Error (MAE), and Root Mean Squared Error (RMSE).</a:t>
            </a:r>
          </a:p>
          <a:p>
            <a:r>
              <a:rPr lang="en-IN" sz="1600" b="1" dirty="0"/>
              <a:t>Visualization &amp; Dashboard:</a:t>
            </a:r>
            <a:br>
              <a:rPr lang="en-IN" sz="1600" dirty="0"/>
            </a:br>
            <a:r>
              <a:rPr lang="en-IN" sz="1600" dirty="0"/>
              <a:t>Presented KPIs, interactive charts, ML prediction results, Data Story, and Decision Analytics through an interactive web dashboard.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898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6920" y="124460"/>
            <a:ext cx="5851525" cy="1017905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7E8F17E-C082-1C74-3AE4-919AAAFCA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616" y="1143000"/>
            <a:ext cx="7465219" cy="4976813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920605" y="36614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" y="124460"/>
            <a:ext cx="1485265" cy="81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165" y="274955"/>
            <a:ext cx="6985635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Modern Tools &amp; Technologies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11559"/>
              </p:ext>
            </p:extLst>
          </p:nvPr>
        </p:nvGraphicFramePr>
        <p:xfrm>
          <a:off x="76835" y="1346200"/>
          <a:ext cx="9025255" cy="538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Tool /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Purpose in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Core language for data analysis, preprocessing, ML, and project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Development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Jupyter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Data analysis, experimentation and development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/>
                        <a:t>Data loading, cleaning, transformation, and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 dirty="0"/>
                        <a:t>Data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Plotly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Interactive business charts and dashboard visualization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Frontend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HTML, CSS, JavaScript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Dashboard structure, design and interaction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Backend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Flask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Random Forest regression and model evaluation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Data Storage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CSV</a:t>
                      </a:r>
                      <a:endParaRPr lang="en-US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Storing the four sales datasets</a:t>
                      </a:r>
                      <a:endParaRPr lang="en-US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43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320" y="88265"/>
            <a:ext cx="137922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490" y="274955"/>
            <a:ext cx="654431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03200"/>
            <a:ext cx="1633855" cy="84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7D0C9CD-2DD1-FE2C-5DE8-8CC8EFDE5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447" y="1600200"/>
            <a:ext cx="8055106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650365" cy="94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9C60561-06E3-2899-BD28-60CD06B30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000" y="1118575"/>
            <a:ext cx="8341360" cy="5172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5" y="375285"/>
            <a:ext cx="1650365" cy="941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C4ED03-9778-2296-6885-44F2271FD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8320" y="1316990"/>
            <a:ext cx="8158479" cy="48091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3425" y="111125"/>
            <a:ext cx="5805805" cy="10083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95" y="1245235"/>
            <a:ext cx="8229600" cy="4525963"/>
          </a:xfrm>
        </p:spPr>
        <p:txBody>
          <a:bodyPr>
            <a:noAutofit/>
          </a:bodyPr>
          <a:lstStyle/>
          <a:p>
            <a:r>
              <a:rPr lang="en-IN" sz="1600" b="1" dirty="0"/>
              <a:t>Data Processing:</a:t>
            </a:r>
            <a:endParaRPr lang="en-IN" sz="1600" dirty="0"/>
          </a:p>
          <a:p>
            <a:r>
              <a:rPr lang="en-IN" sz="1600" dirty="0"/>
              <a:t>Successfully cleaned and normalized four different sales datasets for dashboard analysis.</a:t>
            </a:r>
          </a:p>
          <a:p>
            <a:r>
              <a:rPr lang="en-IN" sz="1600" b="1" dirty="0"/>
              <a:t>EDA Findings:</a:t>
            </a:r>
            <a:endParaRPr lang="en-IN" sz="1600" dirty="0"/>
          </a:p>
          <a:p>
            <a:r>
              <a:rPr lang="en-IN" sz="1600" dirty="0"/>
              <a:t>Identified sales trends, category performance, regional performance, customer segment </a:t>
            </a:r>
            <a:r>
              <a:rPr lang="en-IN" sz="1600" dirty="0" err="1"/>
              <a:t>behavior</a:t>
            </a:r>
            <a:r>
              <a:rPr lang="en-IN" sz="1600" dirty="0"/>
              <a:t>, product rankings, profitability, and discount-profit patterns.</a:t>
            </a:r>
          </a:p>
          <a:p>
            <a:r>
              <a:rPr lang="en-IN" sz="1600" b="1" dirty="0"/>
              <a:t>Feature Engineering:</a:t>
            </a:r>
            <a:endParaRPr lang="en-IN" sz="1600" dirty="0"/>
          </a:p>
          <a:p>
            <a:r>
              <a:rPr lang="en-IN" sz="1600" dirty="0"/>
              <a:t>Created Year, Month, Quarter, and Profit Margin features where applicable.</a:t>
            </a:r>
          </a:p>
          <a:p>
            <a:r>
              <a:rPr lang="en-IN" sz="1600" b="1" dirty="0"/>
              <a:t>Dashboard Outcome:</a:t>
            </a:r>
            <a:endParaRPr lang="en-IN" sz="1600" dirty="0"/>
          </a:p>
          <a:p>
            <a:r>
              <a:rPr lang="en-IN" sz="1600" dirty="0"/>
              <a:t>Implemented interactive dataset selection, dynamic filters, KPI analysis, and multiple </a:t>
            </a:r>
            <a:r>
              <a:rPr lang="en-IN" sz="1600" dirty="0" err="1"/>
              <a:t>Plotly</a:t>
            </a:r>
            <a:r>
              <a:rPr lang="en-IN" sz="1600" dirty="0"/>
              <a:t> visualizations.</a:t>
            </a:r>
          </a:p>
          <a:p>
            <a:r>
              <a:rPr lang="en-IN" sz="1600" b="1" dirty="0"/>
              <a:t>Machine Learning Outcome:</a:t>
            </a:r>
            <a:endParaRPr lang="en-IN" sz="1600" dirty="0"/>
          </a:p>
          <a:p>
            <a:r>
              <a:rPr lang="en-IN" sz="1600" dirty="0"/>
              <a:t>Implemented Random Forest Regression for Sales Prediction and integrated model evaluation into the dashboard.</a:t>
            </a:r>
          </a:p>
          <a:p>
            <a:r>
              <a:rPr lang="en-IN" sz="1600" b="1" dirty="0"/>
              <a:t>Data Story Outcome:</a:t>
            </a:r>
            <a:endParaRPr lang="en-IN" sz="1600" dirty="0"/>
          </a:p>
          <a:p>
            <a:r>
              <a:rPr lang="en-IN" sz="1600" dirty="0"/>
              <a:t>Converted analytical findings into:</a:t>
            </a:r>
          </a:p>
          <a:p>
            <a:r>
              <a:rPr lang="en-IN" sz="1600" b="1" dirty="0"/>
              <a:t>Finding → Meaning → Decision → Recommendation</a:t>
            </a:r>
            <a:endParaRPr lang="en-IN" sz="1600" dirty="0"/>
          </a:p>
          <a:p>
            <a:r>
              <a:rPr lang="en-IN" sz="1600" b="1" dirty="0"/>
              <a:t>Final Outcome:</a:t>
            </a:r>
            <a:endParaRPr lang="en-IN" sz="1600" dirty="0"/>
          </a:p>
          <a:p>
            <a:r>
              <a:rPr lang="en-IN" sz="1600" dirty="0"/>
              <a:t>Cleaned Data → EDA → Features → ML Prediction → Visualization → Data Story → Decision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111125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BBD23-1BC3-F786-5614-B0A70317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264160"/>
            <a:ext cx="8554720" cy="586200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DATA STORYTELLING TECHNIQUES</a:t>
            </a:r>
          </a:p>
          <a:p>
            <a:r>
              <a:rPr lang="en-IN" b="1" dirty="0"/>
              <a:t>1. KPI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Total Sales, Total Profit, Total Orders, Total Quantity, Total Customers, Profit Margin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KPIs provide a quick summary of overall business performance before detailed analysis.</a:t>
            </a:r>
          </a:p>
          <a:p>
            <a:r>
              <a:rPr lang="en-IN" b="1" dirty="0"/>
              <a:t>2. Trend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Trend Line Chart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Shows how sales change over time and helps identify increases, decreases, peaks, and low-performing periods.</a:t>
            </a:r>
          </a:p>
          <a:p>
            <a:r>
              <a:rPr lang="en-IN" b="1" dirty="0"/>
              <a:t>3. Comparison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Category, Profit by Category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Compares categories to understand differences in sales and profitability.</a:t>
            </a:r>
          </a:p>
          <a:p>
            <a:r>
              <a:rPr lang="en-IN" b="1" dirty="0"/>
              <a:t>4. Geographical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Region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Shows how sales are distributed across regions and helps compare regional performance.</a:t>
            </a:r>
          </a:p>
          <a:p>
            <a:r>
              <a:rPr lang="en-IN" b="1" dirty="0"/>
              <a:t>5. Ranking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Top Products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Ranks products by sales and makes high-performing products easy to identify.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AD7AF-4DA1-CCD5-8FE0-8023555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C4468-D174-45DB-6ACD-5F8EFA6D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3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A90F3-8D0E-4368-E6AF-7306F9B69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650240"/>
            <a:ext cx="8432800" cy="547592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6. Segment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Sales by Customer Segment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Compares customer groups and identifies their contribution to sales.</a:t>
            </a:r>
          </a:p>
          <a:p>
            <a:r>
              <a:rPr lang="en-IN" b="1" dirty="0"/>
              <a:t>7. Relationship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Discount vs Profit Scatter Plot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Examines the relationship between discount levels and profit.</a:t>
            </a:r>
          </a:p>
          <a:p>
            <a:r>
              <a:rPr lang="en-IN" b="1" dirty="0"/>
              <a:t>8. Interactive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Dataset, Year, Category, Region, Segment Filters</a:t>
            </a:r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Allows users to interact with the data and explore different views by changing datasets and filters.</a:t>
            </a:r>
          </a:p>
          <a:p>
            <a:r>
              <a:rPr lang="en-IN" b="1" dirty="0"/>
              <a:t>9. Narrative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Data Story</a:t>
            </a:r>
          </a:p>
          <a:p>
            <a:r>
              <a:rPr lang="en-IN" b="1" dirty="0"/>
              <a:t>Flow:</a:t>
            </a:r>
            <a:br>
              <a:rPr lang="en-IN" dirty="0"/>
            </a:br>
            <a:r>
              <a:rPr lang="en-IN" b="1" dirty="0"/>
              <a:t>Finding → Meaning → Decision → Recommendation</a:t>
            </a:r>
            <a:endParaRPr lang="en-IN" dirty="0"/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Converts chart results into a clear business narrative by explaining what the data shows, what it means, what decision can be considered, and what recommendation follows.</a:t>
            </a:r>
          </a:p>
          <a:p>
            <a:r>
              <a:rPr lang="en-IN" b="1" dirty="0"/>
              <a:t>10. Decision-Oriented Storytelling</a:t>
            </a:r>
          </a:p>
          <a:p>
            <a:r>
              <a:rPr lang="en-IN" b="1" dirty="0"/>
              <a:t>Dashboard:</a:t>
            </a:r>
            <a:r>
              <a:rPr lang="en-IN" dirty="0"/>
              <a:t> Decision Analytics</a:t>
            </a:r>
          </a:p>
          <a:p>
            <a:r>
              <a:rPr lang="en-IN" b="1" dirty="0"/>
              <a:t>Explanation:</a:t>
            </a:r>
            <a:r>
              <a:rPr lang="en-IN" dirty="0"/>
              <a:t> Connects analytical findings with business decision-making and provides structured decision support.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8692-99B9-AE1F-351C-51A07415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4D41F-D49F-306C-550C-A59DD664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02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8C1D-C1AF-BFB0-D324-80ED4469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Comparative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C2D9-440F-3808-5333-8D457088C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1800" dirty="0"/>
              <a:t>Four regression models were evaluated using the </a:t>
            </a:r>
            <a:r>
              <a:rPr lang="en-IN" sz="1800" b="1" dirty="0"/>
              <a:t>same dataset, features, and 80:20 train-test split</a:t>
            </a:r>
            <a:r>
              <a:rPr lang="en-IN" sz="1800" dirty="0"/>
              <a:t>. </a:t>
            </a:r>
          </a:p>
          <a:p>
            <a:pPr lvl="0"/>
            <a:r>
              <a:rPr lang="en-IN" sz="1800" b="1" dirty="0"/>
              <a:t>R²</a:t>
            </a:r>
            <a:r>
              <a:rPr lang="en-IN" sz="1800" dirty="0"/>
              <a:t> measures how much variation in sales is explained by the model. </a:t>
            </a:r>
          </a:p>
          <a:p>
            <a:pPr lvl="0"/>
            <a:r>
              <a:rPr lang="en-IN" sz="1800" b="1" dirty="0"/>
              <a:t>MAE</a:t>
            </a:r>
            <a:r>
              <a:rPr lang="en-IN" sz="1800" dirty="0"/>
              <a:t> measures the average absolute prediction error. </a:t>
            </a:r>
          </a:p>
          <a:p>
            <a:pPr lvl="0"/>
            <a:r>
              <a:rPr lang="en-IN" sz="1800" b="1" dirty="0"/>
              <a:t>RMSE</a:t>
            </a:r>
            <a:r>
              <a:rPr lang="en-IN" sz="1800" dirty="0"/>
              <a:t> gives greater weight to larger prediction errors. </a:t>
            </a:r>
          </a:p>
          <a:p>
            <a:pPr lvl="0"/>
            <a:r>
              <a:rPr lang="en-IN" sz="1800" dirty="0"/>
              <a:t>The model with higher R² and lower MAE/RMSE provides stronger predictive performance for that test setup. </a:t>
            </a:r>
          </a:p>
          <a:p>
            <a:pPr lvl="0"/>
            <a:r>
              <a:rPr lang="en-IN" sz="1800" dirty="0"/>
              <a:t>Model performance can vary when a different dataset is selected because the underlying data and available features change.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BD3A2-86E6-997A-D9F7-80C518CF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3937-72D2-663E-5DA5-6868456F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F7468-5F05-7CDD-8528-3EA4CE3B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0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985" y="274955"/>
            <a:ext cx="6774815" cy="114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0360"/>
            <a:ext cx="8229600" cy="5019040"/>
          </a:xfrm>
        </p:spPr>
        <p:txBody>
          <a:bodyPr>
            <a:normAutofit fontScale="32500" lnSpcReduction="20000"/>
          </a:bodyPr>
          <a:lstStyle/>
          <a:p>
            <a:r>
              <a:rPr lang="en-IN" sz="4600" b="1" dirty="0"/>
              <a:t>Model Evaluation</a:t>
            </a:r>
          </a:p>
          <a:p>
            <a:r>
              <a:rPr lang="en-IN" sz="4000" dirty="0"/>
              <a:t>Evaluated the </a:t>
            </a:r>
            <a:r>
              <a:rPr lang="en-IN" sz="4000" b="1" dirty="0"/>
              <a:t>Random Forest Regressor</a:t>
            </a:r>
            <a:r>
              <a:rPr lang="en-IN" sz="4000" dirty="0"/>
              <a:t> for Sales Prediction.</a:t>
            </a:r>
          </a:p>
          <a:p>
            <a:r>
              <a:rPr lang="en-IN" sz="4600" b="1" dirty="0"/>
              <a:t>Evaluation Metrics</a:t>
            </a:r>
          </a:p>
          <a:p>
            <a:r>
              <a:rPr lang="en-IN" sz="4000" b="1" dirty="0"/>
              <a:t>R² Score:</a:t>
            </a:r>
            <a:r>
              <a:rPr lang="en-IN" sz="4000" dirty="0"/>
              <a:t> Measures how well the model explains the variation in Sales.</a:t>
            </a:r>
          </a:p>
          <a:p>
            <a:r>
              <a:rPr lang="en-IN" sz="4000" b="1" dirty="0"/>
              <a:t>MAE:</a:t>
            </a:r>
            <a:r>
              <a:rPr lang="en-IN" sz="4000" dirty="0"/>
              <a:t> Measures the average absolute difference between actual and predicted Sales.</a:t>
            </a:r>
          </a:p>
          <a:p>
            <a:r>
              <a:rPr lang="en-IN" sz="4000" b="1" dirty="0"/>
              <a:t>RMSE:</a:t>
            </a:r>
            <a:r>
              <a:rPr lang="en-IN" sz="4000" dirty="0"/>
              <a:t> Measures prediction error while giving greater weight to larger errors.</a:t>
            </a:r>
          </a:p>
          <a:p>
            <a:r>
              <a:rPr lang="en-IN" sz="4600" b="1" dirty="0"/>
              <a:t>Model Validation</a:t>
            </a:r>
          </a:p>
          <a:p>
            <a:pPr lvl="0"/>
            <a:r>
              <a:rPr lang="en-IN" sz="4000" dirty="0"/>
              <a:t>Used an 80:20 train-test split.</a:t>
            </a:r>
          </a:p>
          <a:p>
            <a:pPr lvl="0"/>
            <a:r>
              <a:rPr lang="en-IN" sz="4000" dirty="0"/>
              <a:t>Trained the model on the training set.</a:t>
            </a:r>
          </a:p>
          <a:p>
            <a:pPr lvl="0"/>
            <a:r>
              <a:rPr lang="en-IN" sz="4000" dirty="0"/>
              <a:t>Generated predictions on unseen test data.</a:t>
            </a:r>
          </a:p>
          <a:p>
            <a:pPr lvl="0"/>
            <a:r>
              <a:rPr lang="en-IN" sz="4000" dirty="0"/>
              <a:t>Compared actual and predicted sales.</a:t>
            </a:r>
          </a:p>
          <a:p>
            <a:pPr lvl="0"/>
            <a:r>
              <a:rPr lang="en-IN" sz="4000" dirty="0"/>
              <a:t>Displayed model performance metrics in the dashboard.</a:t>
            </a:r>
          </a:p>
          <a:p>
            <a:pPr lvl="0"/>
            <a:endParaRPr lang="en-IN" sz="4000" dirty="0"/>
          </a:p>
          <a:p>
            <a:r>
              <a:rPr lang="en-IN" sz="4600" b="1" dirty="0"/>
              <a:t>Functional Evaluation</a:t>
            </a:r>
          </a:p>
          <a:p>
            <a:r>
              <a:rPr lang="en-IN" sz="4000" dirty="0"/>
              <a:t>Tested:</a:t>
            </a:r>
          </a:p>
          <a:p>
            <a:pPr lvl="0"/>
            <a:r>
              <a:rPr lang="en-IN" sz="4000" dirty="0"/>
              <a:t>Dataset switching</a:t>
            </a:r>
          </a:p>
          <a:p>
            <a:pPr lvl="0"/>
            <a:r>
              <a:rPr lang="en-IN" sz="4000" dirty="0"/>
              <a:t>Dynamic filters</a:t>
            </a:r>
          </a:p>
          <a:p>
            <a:pPr lvl="0"/>
            <a:r>
              <a:rPr lang="en-IN" sz="4000" dirty="0"/>
              <a:t>KPI calculations</a:t>
            </a:r>
          </a:p>
          <a:p>
            <a:pPr lvl="0"/>
            <a:r>
              <a:rPr lang="en-IN" sz="4000" dirty="0"/>
              <a:t>Chart rendering</a:t>
            </a:r>
          </a:p>
          <a:p>
            <a:pPr lvl="0"/>
            <a:r>
              <a:rPr lang="en-IN" sz="4000" dirty="0"/>
              <a:t>ML prediction section</a:t>
            </a:r>
          </a:p>
          <a:p>
            <a:pPr lvl="0"/>
            <a:r>
              <a:rPr lang="en-IN" sz="4000" dirty="0"/>
              <a:t>Data Story updates</a:t>
            </a:r>
          </a:p>
          <a:p>
            <a:pPr lvl="0"/>
            <a:r>
              <a:rPr lang="en-IN" sz="4000" dirty="0"/>
              <a:t>Reset Filters</a:t>
            </a:r>
          </a:p>
          <a:p>
            <a:r>
              <a:rPr lang="en-IN" sz="4000" b="1" dirty="0"/>
              <a:t>Final Outcome:</a:t>
            </a:r>
            <a:endParaRPr lang="en-IN" sz="4000" dirty="0"/>
          </a:p>
          <a:p>
            <a:r>
              <a:rPr lang="en-IN" sz="4000" dirty="0"/>
              <a:t>ML Model → Performance Metrics → Actual vs Predicted → Data Story → Decision Support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336550"/>
            <a:ext cx="1703705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307347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6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13314" name="Picture 2" descr="Koneru Lakshmaiah Education Foundation, Bachupally Campus Course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0"/>
            <a:ext cx="2095500" cy="2047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1030</Words>
  <Application>Microsoft Office PowerPoint</Application>
  <PresentationFormat>On-screen Show (4:3)</PresentationFormat>
  <Paragraphs>138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Goudy Old Style</vt:lpstr>
      <vt:lpstr>Times New Roman</vt:lpstr>
      <vt:lpstr>Office Theme</vt:lpstr>
      <vt:lpstr>PowerPoint Presentation</vt:lpstr>
      <vt:lpstr>Methodology</vt:lpstr>
      <vt:lpstr>System Design</vt:lpstr>
      <vt:lpstr>Modern Tools &amp; Technologies</vt:lpstr>
      <vt:lpstr>Implementation</vt:lpstr>
      <vt:lpstr>PowerPoint Presentation</vt:lpstr>
      <vt:lpstr>PowerPoint Presentation</vt:lpstr>
      <vt:lpstr>Results</vt:lpstr>
      <vt:lpstr>PowerPoint Presentation</vt:lpstr>
      <vt:lpstr>PowerPoint Presentation</vt:lpstr>
      <vt:lpstr>Comparative Analysis </vt:lpstr>
      <vt:lpstr>Performance Evaluation</vt:lpstr>
      <vt:lpstr>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Sambu Sai Rishik</dc:creator>
  <dc:description>generated using python-pptx</dc:description>
  <cp:lastModifiedBy>CHARAN RATHANALA</cp:lastModifiedBy>
  <cp:revision>265</cp:revision>
  <dcterms:created xsi:type="dcterms:W3CDTF">2013-01-27T09:14:00Z</dcterms:created>
  <dcterms:modified xsi:type="dcterms:W3CDTF">2026-09-21T04:52:20Z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91FB06EE950B491884B06E03A1059F52_13</vt:lpwstr>
  </property>
</Properties>
</file>